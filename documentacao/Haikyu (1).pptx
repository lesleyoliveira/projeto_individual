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Boulder" charset="1" panose="00000000000000000000"/>
      <p:regular r:id="rId13"/>
    </p:embeddedFont>
    <p:embeddedFont>
      <p:font typeface="Rubik" charset="1" panose="00000000000000000000"/>
      <p:regular r:id="rId14"/>
    </p:embeddedFont>
    <p:embeddedFont>
      <p:font typeface="ITC Motter Corpus Semicondensed" charset="1" panose="04020A05040802020202"/>
      <p:regular r:id="rId15"/>
    </p:embeddedFont>
    <p:embeddedFont>
      <p:font typeface="Rubik Bold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6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08505" y="0"/>
            <a:ext cx="7379495" cy="10542136"/>
          </a:xfrm>
          <a:custGeom>
            <a:avLst/>
            <a:gdLst/>
            <a:ahLst/>
            <a:cxnLst/>
            <a:rect r="r" b="b" t="t" l="l"/>
            <a:pathLst>
              <a:path h="10542136" w="7379495">
                <a:moveTo>
                  <a:pt x="0" y="0"/>
                </a:moveTo>
                <a:lnTo>
                  <a:pt x="7379495" y="0"/>
                </a:lnTo>
                <a:lnTo>
                  <a:pt x="7379495" y="10542136"/>
                </a:lnTo>
                <a:lnTo>
                  <a:pt x="0" y="10542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52280" y="3212204"/>
            <a:ext cx="6453868" cy="2839663"/>
            <a:chOff x="0" y="0"/>
            <a:chExt cx="8605157" cy="378621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2033618"/>
              <a:ext cx="8605157" cy="175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900"/>
                </a:lnSpc>
              </a:pPr>
              <a:r>
                <a:rPr lang="en-US" sz="9000" spc="-179">
                  <a:solidFill>
                    <a:srgbClr val="FFFFFF"/>
                  </a:solidFill>
                  <a:latin typeface="Boulder"/>
                  <a:ea typeface="Boulder"/>
                  <a:cs typeface="Boulder"/>
                  <a:sym typeface="Boulder"/>
                </a:rPr>
                <a:t>Haikyu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0"/>
              <a:ext cx="8605157" cy="50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860571" y="6281125"/>
            <a:ext cx="201171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Lesley Oliveira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6587588"/>
            <a:chOff x="0" y="0"/>
            <a:chExt cx="2192553" cy="1735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2553" cy="1735003"/>
            </a:xfrm>
            <a:custGeom>
              <a:avLst/>
              <a:gdLst/>
              <a:ahLst/>
              <a:cxnLst/>
              <a:rect r="r" b="b" t="t" l="l"/>
              <a:pathLst>
                <a:path h="1735003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97804"/>
                  </a:lnTo>
                  <a:cubicBezTo>
                    <a:pt x="2192553" y="1707669"/>
                    <a:pt x="2188634" y="1717131"/>
                    <a:pt x="2181658" y="1724107"/>
                  </a:cubicBezTo>
                  <a:cubicBezTo>
                    <a:pt x="2174682" y="1731083"/>
                    <a:pt x="2165220" y="1735003"/>
                    <a:pt x="2155354" y="1735003"/>
                  </a:cubicBezTo>
                  <a:lnTo>
                    <a:pt x="37199" y="1735003"/>
                  </a:lnTo>
                  <a:cubicBezTo>
                    <a:pt x="27333" y="1735003"/>
                    <a:pt x="17872" y="1731083"/>
                    <a:pt x="10895" y="1724107"/>
                  </a:cubicBezTo>
                  <a:cubicBezTo>
                    <a:pt x="3919" y="1717131"/>
                    <a:pt x="0" y="1707669"/>
                    <a:pt x="0" y="1697804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192553" cy="17921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24366" y="7590061"/>
            <a:ext cx="5753100" cy="2200317"/>
            <a:chOff x="0" y="0"/>
            <a:chExt cx="1515220" cy="5795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15220" cy="579507"/>
            </a:xfrm>
            <a:custGeom>
              <a:avLst/>
              <a:gdLst/>
              <a:ahLst/>
              <a:cxnLst/>
              <a:rect r="r" b="b" t="t" l="l"/>
              <a:pathLst>
                <a:path h="579507" w="1515220">
                  <a:moveTo>
                    <a:pt x="53828" y="0"/>
                  </a:moveTo>
                  <a:lnTo>
                    <a:pt x="1461392" y="0"/>
                  </a:lnTo>
                  <a:cubicBezTo>
                    <a:pt x="1491120" y="0"/>
                    <a:pt x="1515220" y="24100"/>
                    <a:pt x="1515220" y="53828"/>
                  </a:cubicBezTo>
                  <a:lnTo>
                    <a:pt x="1515220" y="525680"/>
                  </a:lnTo>
                  <a:cubicBezTo>
                    <a:pt x="1515220" y="555408"/>
                    <a:pt x="1491120" y="579507"/>
                    <a:pt x="1461392" y="579507"/>
                  </a:cubicBezTo>
                  <a:lnTo>
                    <a:pt x="53828" y="579507"/>
                  </a:lnTo>
                  <a:cubicBezTo>
                    <a:pt x="24100" y="579507"/>
                    <a:pt x="0" y="555408"/>
                    <a:pt x="0" y="525680"/>
                  </a:cubicBezTo>
                  <a:lnTo>
                    <a:pt x="0" y="53828"/>
                  </a:lnTo>
                  <a:cubicBezTo>
                    <a:pt x="0" y="24100"/>
                    <a:pt x="24100" y="0"/>
                    <a:pt x="5382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515220" cy="636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666750"/>
            <a:ext cx="8324850" cy="8953500"/>
            <a:chOff x="0" y="0"/>
            <a:chExt cx="1066627" cy="11471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6627" cy="1147174"/>
            </a:xfrm>
            <a:custGeom>
              <a:avLst/>
              <a:gdLst/>
              <a:ahLst/>
              <a:cxnLst/>
              <a:rect r="r" b="b" t="t" l="l"/>
              <a:pathLst>
                <a:path h="1147174" w="1066627">
                  <a:moveTo>
                    <a:pt x="65098" y="0"/>
                  </a:moveTo>
                  <a:lnTo>
                    <a:pt x="1001529" y="0"/>
                  </a:lnTo>
                  <a:cubicBezTo>
                    <a:pt x="1018794" y="0"/>
                    <a:pt x="1035352" y="6859"/>
                    <a:pt x="1047561" y="19067"/>
                  </a:cubicBezTo>
                  <a:cubicBezTo>
                    <a:pt x="1059769" y="31275"/>
                    <a:pt x="1066627" y="47833"/>
                    <a:pt x="1066627" y="65098"/>
                  </a:cubicBezTo>
                  <a:lnTo>
                    <a:pt x="1066627" y="1082075"/>
                  </a:lnTo>
                  <a:cubicBezTo>
                    <a:pt x="1066627" y="1099340"/>
                    <a:pt x="1059769" y="1115898"/>
                    <a:pt x="1047561" y="1128107"/>
                  </a:cubicBezTo>
                  <a:cubicBezTo>
                    <a:pt x="1035352" y="1140315"/>
                    <a:pt x="1018794" y="1147174"/>
                    <a:pt x="1001529" y="1147174"/>
                  </a:cubicBezTo>
                  <a:lnTo>
                    <a:pt x="65098" y="1147174"/>
                  </a:lnTo>
                  <a:cubicBezTo>
                    <a:pt x="47833" y="1147174"/>
                    <a:pt x="31275" y="1140315"/>
                    <a:pt x="19067" y="1128107"/>
                  </a:cubicBezTo>
                  <a:cubicBezTo>
                    <a:pt x="6859" y="1115898"/>
                    <a:pt x="0" y="1099340"/>
                    <a:pt x="0" y="1082075"/>
                  </a:cubicBezTo>
                  <a:lnTo>
                    <a:pt x="0" y="65098"/>
                  </a:lnTo>
                  <a:cubicBezTo>
                    <a:pt x="0" y="47833"/>
                    <a:pt x="6859" y="31275"/>
                    <a:pt x="19067" y="19067"/>
                  </a:cubicBezTo>
                  <a:cubicBezTo>
                    <a:pt x="31275" y="6859"/>
                    <a:pt x="47833" y="0"/>
                    <a:pt x="6509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6954" r="0" b="-695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486316" y="7812492"/>
            <a:ext cx="1770588" cy="1755455"/>
          </a:xfrm>
          <a:custGeom>
            <a:avLst/>
            <a:gdLst/>
            <a:ahLst/>
            <a:cxnLst/>
            <a:rect r="r" b="b" t="t" l="l"/>
            <a:pathLst>
              <a:path h="1755455" w="1770588">
                <a:moveTo>
                  <a:pt x="0" y="0"/>
                </a:moveTo>
                <a:lnTo>
                  <a:pt x="1770588" y="0"/>
                </a:lnTo>
                <a:lnTo>
                  <a:pt x="1770588" y="1755455"/>
                </a:lnTo>
                <a:lnTo>
                  <a:pt x="0" y="1755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961455" y="874003"/>
            <a:ext cx="6916790" cy="75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70"/>
              </a:lnSpc>
            </a:pPr>
            <a:r>
              <a:rPr lang="en-US" sz="4700">
                <a:solidFill>
                  <a:srgbClr val="FF670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Contexto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9617" y="2220440"/>
            <a:ext cx="7759116" cy="4296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946" indent="-241473" lvl="1">
              <a:lnSpc>
                <a:spcPts val="3131"/>
              </a:lnSpc>
              <a:buFont typeface="Arial"/>
              <a:buChar char="•"/>
            </a:pPr>
            <a:r>
              <a:rPr lang="en-US" b="true" sz="2236">
                <a:solidFill>
                  <a:srgbClr val="FF6700"/>
                </a:solidFill>
                <a:latin typeface="Rubik Bold"/>
                <a:ea typeface="Rubik Bold"/>
                <a:cs typeface="Rubik Bold"/>
                <a:sym typeface="Rubik Bold"/>
              </a:rPr>
              <a:t>Origem: </a:t>
            </a:r>
            <a:r>
              <a:rPr lang="en-US" sz="2236">
                <a:solidFill>
                  <a:srgbClr val="FF6700"/>
                </a:solidFill>
                <a:latin typeface="Rubik"/>
                <a:ea typeface="Rubik"/>
                <a:cs typeface="Rubik"/>
                <a:sym typeface="Rubik"/>
              </a:rPr>
              <a:t>Série de mangá escrita e ilustrada por Haruichi Furudate.</a:t>
            </a:r>
          </a:p>
          <a:p>
            <a:pPr algn="l">
              <a:lnSpc>
                <a:spcPts val="3131"/>
              </a:lnSpc>
            </a:pPr>
          </a:p>
          <a:p>
            <a:pPr algn="l" marL="482946" indent="-241473" lvl="1">
              <a:lnSpc>
                <a:spcPts val="3131"/>
              </a:lnSpc>
              <a:buFont typeface="Arial"/>
              <a:buChar char="•"/>
            </a:pPr>
            <a:r>
              <a:rPr lang="en-US" b="true" sz="2236">
                <a:solidFill>
                  <a:srgbClr val="FF6700"/>
                </a:solidFill>
                <a:latin typeface="Rubik Bold"/>
                <a:ea typeface="Rubik Bold"/>
                <a:cs typeface="Rubik Bold"/>
                <a:sym typeface="Rubik Bold"/>
              </a:rPr>
              <a:t>Tema Central:</a:t>
            </a:r>
            <a:r>
              <a:rPr lang="en-US" sz="2236">
                <a:solidFill>
                  <a:srgbClr val="FF6700"/>
                </a:solidFill>
                <a:latin typeface="Rubik"/>
                <a:ea typeface="Rubik"/>
                <a:cs typeface="Rubik"/>
                <a:sym typeface="Rubik"/>
              </a:rPr>
              <a:t> Uma paixão pelo esporte do vôlei.</a:t>
            </a:r>
          </a:p>
          <a:p>
            <a:pPr algn="l">
              <a:lnSpc>
                <a:spcPts val="3131"/>
              </a:lnSpc>
            </a:pPr>
          </a:p>
          <a:p>
            <a:pPr algn="l" marL="482946" indent="-241473" lvl="1">
              <a:lnSpc>
                <a:spcPts val="3131"/>
              </a:lnSpc>
              <a:buFont typeface="Arial"/>
              <a:buChar char="•"/>
            </a:pPr>
            <a:r>
              <a:rPr lang="en-US" b="true" sz="2236">
                <a:solidFill>
                  <a:srgbClr val="FF6700"/>
                </a:solidFill>
                <a:latin typeface="Rubik Bold"/>
                <a:ea typeface="Rubik Bold"/>
                <a:cs typeface="Rubik Bold"/>
                <a:sym typeface="Rubik Bold"/>
              </a:rPr>
              <a:t>Valores que o anime trata: </a:t>
            </a:r>
          </a:p>
          <a:p>
            <a:pPr algn="l">
              <a:lnSpc>
                <a:spcPts val="3131"/>
              </a:lnSpc>
            </a:pPr>
          </a:p>
          <a:p>
            <a:pPr algn="l" marL="965892" indent="-321964" lvl="2">
              <a:lnSpc>
                <a:spcPts val="3131"/>
              </a:lnSpc>
              <a:buFont typeface="Arial"/>
              <a:buChar char="⚬"/>
            </a:pPr>
            <a:r>
              <a:rPr lang="en-US" sz="2236">
                <a:solidFill>
                  <a:srgbClr val="FF6700"/>
                </a:solidFill>
                <a:latin typeface="Rubik"/>
                <a:ea typeface="Rubik"/>
                <a:cs typeface="Rubik"/>
                <a:sym typeface="Rubik"/>
              </a:rPr>
              <a:t>Superação de limitações físicas e mentais.</a:t>
            </a:r>
          </a:p>
          <a:p>
            <a:pPr algn="l" marL="965892" indent="-321964" lvl="2">
              <a:lnSpc>
                <a:spcPts val="3131"/>
              </a:lnSpc>
              <a:buFont typeface="Arial"/>
              <a:buChar char="⚬"/>
            </a:pPr>
            <a:r>
              <a:rPr lang="en-US" sz="2236">
                <a:solidFill>
                  <a:srgbClr val="FF6700"/>
                </a:solidFill>
                <a:latin typeface="Rubik"/>
                <a:ea typeface="Rubik"/>
                <a:cs typeface="Rubik"/>
                <a:sym typeface="Rubik"/>
              </a:rPr>
              <a:t>Dedicação e esforço contínuo.</a:t>
            </a:r>
          </a:p>
          <a:p>
            <a:pPr algn="l" marL="965892" indent="-321964" lvl="2">
              <a:lnSpc>
                <a:spcPts val="3131"/>
              </a:lnSpc>
              <a:buFont typeface="Arial"/>
              <a:buChar char="⚬"/>
            </a:pPr>
            <a:r>
              <a:rPr lang="en-US" sz="2236">
                <a:solidFill>
                  <a:srgbClr val="FF6700"/>
                </a:solidFill>
                <a:latin typeface="Rubik"/>
                <a:ea typeface="Rubik"/>
                <a:cs typeface="Rubik"/>
                <a:sym typeface="Rubik"/>
              </a:rPr>
              <a:t>A importância inegociável do Trabalho em Equipe.</a:t>
            </a:r>
          </a:p>
          <a:p>
            <a:pPr algn="l">
              <a:lnSpc>
                <a:spcPts val="3131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4554744" y="8216303"/>
            <a:ext cx="2917031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6700"/>
                </a:solidFill>
                <a:latin typeface="Rubik Bold"/>
                <a:ea typeface="Rubik Bold"/>
                <a:cs typeface="Rubik Bold"/>
                <a:sym typeface="Rubik Bold"/>
              </a:rPr>
              <a:t>Obj</a:t>
            </a:r>
            <a:r>
              <a:rPr lang="en-US" b="true" sz="2400">
                <a:solidFill>
                  <a:srgbClr val="FF6700"/>
                </a:solidFill>
                <a:latin typeface="Rubik Bold"/>
                <a:ea typeface="Rubik Bold"/>
                <a:cs typeface="Rubik Bold"/>
                <a:sym typeface="Rubik Bold"/>
              </a:rPr>
              <a:t>etivo 3 – 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6700"/>
                </a:solidFill>
                <a:latin typeface="Rubik Bold"/>
                <a:ea typeface="Rubik Bold"/>
                <a:cs typeface="Rubik Bold"/>
                <a:sym typeface="Rubik Bold"/>
              </a:rPr>
              <a:t>Saúde e Bem-Estar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06200" y="0"/>
            <a:ext cx="6781800" cy="10287000"/>
            <a:chOff x="0" y="0"/>
            <a:chExt cx="178615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615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86153">
                  <a:moveTo>
                    <a:pt x="0" y="0"/>
                  </a:moveTo>
                  <a:lnTo>
                    <a:pt x="1786153" y="0"/>
                  </a:lnTo>
                  <a:lnTo>
                    <a:pt x="178615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67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78615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72950" y="767275"/>
            <a:ext cx="5448300" cy="8953500"/>
            <a:chOff x="0" y="0"/>
            <a:chExt cx="1406084" cy="23106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06084" cy="2310698"/>
            </a:xfrm>
            <a:custGeom>
              <a:avLst/>
              <a:gdLst/>
              <a:ahLst/>
              <a:cxnLst/>
              <a:rect r="r" b="b" t="t" l="l"/>
              <a:pathLst>
                <a:path h="2310698" w="1406084">
                  <a:moveTo>
                    <a:pt x="974733" y="348724"/>
                  </a:moveTo>
                  <a:lnTo>
                    <a:pt x="974733" y="310035"/>
                  </a:lnTo>
                  <a:cubicBezTo>
                    <a:pt x="974733" y="286046"/>
                    <a:pt x="965203" y="263040"/>
                    <a:pt x="948241" y="246078"/>
                  </a:cubicBezTo>
                  <a:cubicBezTo>
                    <a:pt x="931278" y="229116"/>
                    <a:pt x="908272" y="219586"/>
                    <a:pt x="884283" y="219587"/>
                  </a:cubicBezTo>
                  <a:lnTo>
                    <a:pt x="660890" y="219587"/>
                  </a:lnTo>
                  <a:cubicBezTo>
                    <a:pt x="610936" y="219587"/>
                    <a:pt x="570441" y="179091"/>
                    <a:pt x="570441" y="129137"/>
                  </a:cubicBezTo>
                  <a:lnTo>
                    <a:pt x="570441" y="90448"/>
                  </a:lnTo>
                  <a:cubicBezTo>
                    <a:pt x="570441" y="66459"/>
                    <a:pt x="560911" y="43453"/>
                    <a:pt x="543948" y="26490"/>
                  </a:cubicBezTo>
                  <a:cubicBezTo>
                    <a:pt x="526985" y="9528"/>
                    <a:pt x="503978" y="-1"/>
                    <a:pt x="479989" y="0"/>
                  </a:cubicBezTo>
                  <a:lnTo>
                    <a:pt x="90448" y="0"/>
                  </a:lnTo>
                  <a:cubicBezTo>
                    <a:pt x="40495" y="0"/>
                    <a:pt x="0" y="40495"/>
                    <a:pt x="0" y="90448"/>
                  </a:cubicBezTo>
                  <a:lnTo>
                    <a:pt x="0" y="2220250"/>
                  </a:lnTo>
                  <a:cubicBezTo>
                    <a:pt x="0" y="2270203"/>
                    <a:pt x="40495" y="2310698"/>
                    <a:pt x="90448" y="2310698"/>
                  </a:cubicBezTo>
                  <a:lnTo>
                    <a:pt x="1315636" y="2310698"/>
                  </a:lnTo>
                  <a:cubicBezTo>
                    <a:pt x="1365589" y="2310698"/>
                    <a:pt x="1406084" y="2270203"/>
                    <a:pt x="1406084" y="2220250"/>
                  </a:cubicBezTo>
                  <a:lnTo>
                    <a:pt x="1406084" y="529620"/>
                  </a:lnTo>
                  <a:cubicBezTo>
                    <a:pt x="1406084" y="479667"/>
                    <a:pt x="1365589" y="439172"/>
                    <a:pt x="1315636" y="439172"/>
                  </a:cubicBezTo>
                  <a:lnTo>
                    <a:pt x="1065181" y="439172"/>
                  </a:lnTo>
                  <a:cubicBezTo>
                    <a:pt x="1015228" y="439172"/>
                    <a:pt x="974733" y="398677"/>
                    <a:pt x="974733" y="348724"/>
                  </a:cubicBezTo>
                  <a:close/>
                </a:path>
              </a:pathLst>
            </a:custGeom>
            <a:blipFill>
              <a:blip r:embed="rId2"/>
              <a:stretch>
                <a:fillRect l="-35112" t="0" r="-128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600392" y="666750"/>
            <a:ext cx="1371371" cy="653784"/>
            <a:chOff x="0" y="0"/>
            <a:chExt cx="361184" cy="1721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184" cy="172190"/>
            </a:xfrm>
            <a:custGeom>
              <a:avLst/>
              <a:gdLst/>
              <a:ahLst/>
              <a:cxnLst/>
              <a:rect r="r" b="b" t="t" l="l"/>
              <a:pathLst>
                <a:path h="172190" w="361184">
                  <a:moveTo>
                    <a:pt x="86095" y="0"/>
                  </a:moveTo>
                  <a:lnTo>
                    <a:pt x="275089" y="0"/>
                  </a:lnTo>
                  <a:cubicBezTo>
                    <a:pt x="322638" y="0"/>
                    <a:pt x="361184" y="38546"/>
                    <a:pt x="361184" y="86095"/>
                  </a:cubicBezTo>
                  <a:lnTo>
                    <a:pt x="361184" y="86095"/>
                  </a:lnTo>
                  <a:cubicBezTo>
                    <a:pt x="361184" y="108929"/>
                    <a:pt x="352113" y="130828"/>
                    <a:pt x="335967" y="146973"/>
                  </a:cubicBezTo>
                  <a:cubicBezTo>
                    <a:pt x="319821" y="163119"/>
                    <a:pt x="297923" y="172190"/>
                    <a:pt x="275089" y="172190"/>
                  </a:cubicBezTo>
                  <a:lnTo>
                    <a:pt x="86095" y="172190"/>
                  </a:lnTo>
                  <a:cubicBezTo>
                    <a:pt x="38546" y="172190"/>
                    <a:pt x="0" y="133644"/>
                    <a:pt x="0" y="86095"/>
                  </a:cubicBezTo>
                  <a:lnTo>
                    <a:pt x="0" y="86095"/>
                  </a:lnTo>
                  <a:cubicBezTo>
                    <a:pt x="0" y="38546"/>
                    <a:pt x="38546" y="0"/>
                    <a:pt x="86095" y="0"/>
                  </a:cubicBezTo>
                  <a:close/>
                </a:path>
              </a:pathLst>
            </a:custGeom>
            <a:solidFill>
              <a:srgbClr val="262626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184" cy="229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182975" y="666750"/>
            <a:ext cx="1438275" cy="1487929"/>
            <a:chOff x="0" y="0"/>
            <a:chExt cx="378805" cy="39188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8805" cy="391882"/>
            </a:xfrm>
            <a:custGeom>
              <a:avLst/>
              <a:gdLst/>
              <a:ahLst/>
              <a:cxnLst/>
              <a:rect r="r" b="b" t="t" l="l"/>
              <a:pathLst>
                <a:path h="391882" w="378805">
                  <a:moveTo>
                    <a:pt x="123804" y="0"/>
                  </a:moveTo>
                  <a:lnTo>
                    <a:pt x="255001" y="0"/>
                  </a:lnTo>
                  <a:cubicBezTo>
                    <a:pt x="323376" y="0"/>
                    <a:pt x="378805" y="55429"/>
                    <a:pt x="378805" y="123804"/>
                  </a:cubicBezTo>
                  <a:lnTo>
                    <a:pt x="378805" y="268078"/>
                  </a:lnTo>
                  <a:cubicBezTo>
                    <a:pt x="378805" y="336453"/>
                    <a:pt x="323376" y="391882"/>
                    <a:pt x="255001" y="391882"/>
                  </a:cubicBezTo>
                  <a:lnTo>
                    <a:pt x="123804" y="391882"/>
                  </a:lnTo>
                  <a:cubicBezTo>
                    <a:pt x="90969" y="391882"/>
                    <a:pt x="59479" y="378839"/>
                    <a:pt x="36261" y="355621"/>
                  </a:cubicBezTo>
                  <a:cubicBezTo>
                    <a:pt x="13044" y="332403"/>
                    <a:pt x="0" y="300913"/>
                    <a:pt x="0" y="268078"/>
                  </a:cubicBezTo>
                  <a:lnTo>
                    <a:pt x="0" y="123804"/>
                  </a:lnTo>
                  <a:cubicBezTo>
                    <a:pt x="0" y="90969"/>
                    <a:pt x="13044" y="59479"/>
                    <a:pt x="36261" y="36261"/>
                  </a:cubicBezTo>
                  <a:cubicBezTo>
                    <a:pt x="59479" y="13044"/>
                    <a:pt x="90969" y="0"/>
                    <a:pt x="123804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378805" cy="44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10800000">
            <a:off x="16535010" y="993642"/>
            <a:ext cx="734205" cy="719521"/>
            <a:chOff x="0" y="0"/>
            <a:chExt cx="635000" cy="6223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" cy="622300"/>
            </a:xfrm>
            <a:custGeom>
              <a:avLst/>
              <a:gdLst/>
              <a:ahLst/>
              <a:cxnLst/>
              <a:rect r="r" b="b" t="t" l="l"/>
              <a:pathLst>
                <a:path h="622300" w="6350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499208" y="325120"/>
            <a:ext cx="9353820" cy="295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88"/>
              </a:lnSpc>
            </a:pPr>
            <a:r>
              <a:rPr lang="en-US" sz="6324">
                <a:solidFill>
                  <a:srgbClr val="FF670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Por Qu</a:t>
            </a:r>
            <a:r>
              <a:rPr lang="en-US" sz="6324">
                <a:solidFill>
                  <a:srgbClr val="FF670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e Escolhi Este Tema?</a:t>
            </a:r>
          </a:p>
          <a:p>
            <a:pPr algn="r" marL="0" indent="0" lvl="0">
              <a:lnSpc>
                <a:spcPts val="7218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499208" y="3461713"/>
            <a:ext cx="8324850" cy="502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A Insegurança: </a:t>
            </a:r>
            <a:r>
              <a:rPr lang="en-US" sz="24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Sentimento de desânimo e questionamento sobre a própria capacidade de seguir no curso de tecnologia.</a:t>
            </a:r>
          </a:p>
          <a:p>
            <a:pPr algn="l">
              <a:lnSpc>
                <a:spcPts val="3360"/>
              </a:lnSpc>
            </a:pPr>
          </a:p>
          <a:p>
            <a:pPr algn="l" marL="518160" indent="-259080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Identificação</a:t>
            </a:r>
            <a:r>
              <a:rPr lang="en-US" b="true" sz="2400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:</a:t>
            </a:r>
            <a:r>
              <a:rPr lang="en-US" sz="24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A história de Hinata serviu como um reflexo de perseverança e determinação</a:t>
            </a:r>
          </a:p>
          <a:p>
            <a:pPr algn="l">
              <a:lnSpc>
                <a:spcPts val="3360"/>
              </a:lnSpc>
            </a:pPr>
          </a:p>
          <a:p>
            <a:pPr algn="l" marL="518160" indent="-259080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A lição:</a:t>
            </a:r>
            <a:r>
              <a:rPr lang="en-US" sz="24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O sucesso não é definido pelo talento ou pelas condições perfeitas, mas sim pela vontade de continuar tentando após cada falha.</a:t>
            </a:r>
          </a:p>
          <a:p>
            <a:pPr algn="l">
              <a:lnSpc>
                <a:spcPts val="3360"/>
              </a:lnSpc>
            </a:pPr>
          </a:p>
          <a:p>
            <a:pPr algn="l" marL="518160" indent="-259080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Ensinamento: </a:t>
            </a:r>
            <a:r>
              <a:rPr lang="en-US" sz="24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Resiliência, dedicação, persistir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9208" y="2869014"/>
            <a:ext cx="832485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Descoberta em agosto de 2024.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06200" y="0"/>
            <a:ext cx="6781800" cy="10287000"/>
            <a:chOff x="0" y="0"/>
            <a:chExt cx="178615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615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86153">
                  <a:moveTo>
                    <a:pt x="0" y="0"/>
                  </a:moveTo>
                  <a:lnTo>
                    <a:pt x="1786153" y="0"/>
                  </a:lnTo>
                  <a:lnTo>
                    <a:pt x="178615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67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78615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72950" y="666750"/>
            <a:ext cx="5448300" cy="8953500"/>
            <a:chOff x="0" y="0"/>
            <a:chExt cx="1406084" cy="23106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06084" cy="2310698"/>
            </a:xfrm>
            <a:custGeom>
              <a:avLst/>
              <a:gdLst/>
              <a:ahLst/>
              <a:cxnLst/>
              <a:rect r="r" b="b" t="t" l="l"/>
              <a:pathLst>
                <a:path h="2310698" w="1406084">
                  <a:moveTo>
                    <a:pt x="974733" y="348724"/>
                  </a:moveTo>
                  <a:lnTo>
                    <a:pt x="974733" y="310035"/>
                  </a:lnTo>
                  <a:cubicBezTo>
                    <a:pt x="974733" y="286046"/>
                    <a:pt x="965203" y="263040"/>
                    <a:pt x="948241" y="246078"/>
                  </a:cubicBezTo>
                  <a:cubicBezTo>
                    <a:pt x="931278" y="229116"/>
                    <a:pt x="908272" y="219586"/>
                    <a:pt x="884283" y="219587"/>
                  </a:cubicBezTo>
                  <a:lnTo>
                    <a:pt x="660890" y="219587"/>
                  </a:lnTo>
                  <a:cubicBezTo>
                    <a:pt x="610936" y="219587"/>
                    <a:pt x="570441" y="179091"/>
                    <a:pt x="570441" y="129137"/>
                  </a:cubicBezTo>
                  <a:lnTo>
                    <a:pt x="570441" y="90448"/>
                  </a:lnTo>
                  <a:cubicBezTo>
                    <a:pt x="570441" y="66459"/>
                    <a:pt x="560911" y="43453"/>
                    <a:pt x="543948" y="26490"/>
                  </a:cubicBezTo>
                  <a:cubicBezTo>
                    <a:pt x="526985" y="9528"/>
                    <a:pt x="503978" y="-1"/>
                    <a:pt x="479989" y="0"/>
                  </a:cubicBezTo>
                  <a:lnTo>
                    <a:pt x="90448" y="0"/>
                  </a:lnTo>
                  <a:cubicBezTo>
                    <a:pt x="40495" y="0"/>
                    <a:pt x="0" y="40495"/>
                    <a:pt x="0" y="90448"/>
                  </a:cubicBezTo>
                  <a:lnTo>
                    <a:pt x="0" y="2220250"/>
                  </a:lnTo>
                  <a:cubicBezTo>
                    <a:pt x="0" y="2270203"/>
                    <a:pt x="40495" y="2310698"/>
                    <a:pt x="90448" y="2310698"/>
                  </a:cubicBezTo>
                  <a:lnTo>
                    <a:pt x="1315636" y="2310698"/>
                  </a:lnTo>
                  <a:cubicBezTo>
                    <a:pt x="1365589" y="2310698"/>
                    <a:pt x="1406084" y="2270203"/>
                    <a:pt x="1406084" y="2220250"/>
                  </a:cubicBezTo>
                  <a:lnTo>
                    <a:pt x="1406084" y="529620"/>
                  </a:lnTo>
                  <a:cubicBezTo>
                    <a:pt x="1406084" y="479667"/>
                    <a:pt x="1365589" y="439172"/>
                    <a:pt x="1315636" y="439172"/>
                  </a:cubicBezTo>
                  <a:lnTo>
                    <a:pt x="1065181" y="439172"/>
                  </a:lnTo>
                  <a:cubicBezTo>
                    <a:pt x="1015228" y="439172"/>
                    <a:pt x="974733" y="398677"/>
                    <a:pt x="974733" y="348724"/>
                  </a:cubicBezTo>
                  <a:close/>
                </a:path>
              </a:pathLst>
            </a:custGeom>
            <a:blipFill>
              <a:blip r:embed="rId2"/>
              <a:stretch>
                <a:fillRect l="-4778" t="0" r="-4778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600392" y="666750"/>
            <a:ext cx="1371371" cy="653784"/>
            <a:chOff x="0" y="0"/>
            <a:chExt cx="361184" cy="1721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184" cy="172190"/>
            </a:xfrm>
            <a:custGeom>
              <a:avLst/>
              <a:gdLst/>
              <a:ahLst/>
              <a:cxnLst/>
              <a:rect r="r" b="b" t="t" l="l"/>
              <a:pathLst>
                <a:path h="172190" w="361184">
                  <a:moveTo>
                    <a:pt x="86095" y="0"/>
                  </a:moveTo>
                  <a:lnTo>
                    <a:pt x="275089" y="0"/>
                  </a:lnTo>
                  <a:cubicBezTo>
                    <a:pt x="322638" y="0"/>
                    <a:pt x="361184" y="38546"/>
                    <a:pt x="361184" y="86095"/>
                  </a:cubicBezTo>
                  <a:lnTo>
                    <a:pt x="361184" y="86095"/>
                  </a:lnTo>
                  <a:cubicBezTo>
                    <a:pt x="361184" y="108929"/>
                    <a:pt x="352113" y="130828"/>
                    <a:pt x="335967" y="146973"/>
                  </a:cubicBezTo>
                  <a:cubicBezTo>
                    <a:pt x="319821" y="163119"/>
                    <a:pt x="297923" y="172190"/>
                    <a:pt x="275089" y="172190"/>
                  </a:cubicBezTo>
                  <a:lnTo>
                    <a:pt x="86095" y="172190"/>
                  </a:lnTo>
                  <a:cubicBezTo>
                    <a:pt x="38546" y="172190"/>
                    <a:pt x="0" y="133644"/>
                    <a:pt x="0" y="86095"/>
                  </a:cubicBezTo>
                  <a:lnTo>
                    <a:pt x="0" y="86095"/>
                  </a:lnTo>
                  <a:cubicBezTo>
                    <a:pt x="0" y="38546"/>
                    <a:pt x="38546" y="0"/>
                    <a:pt x="86095" y="0"/>
                  </a:cubicBezTo>
                  <a:close/>
                </a:path>
              </a:pathLst>
            </a:custGeom>
            <a:solidFill>
              <a:srgbClr val="262626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184" cy="229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182975" y="666750"/>
            <a:ext cx="1438275" cy="1487929"/>
            <a:chOff x="0" y="0"/>
            <a:chExt cx="378805" cy="39188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8805" cy="391882"/>
            </a:xfrm>
            <a:custGeom>
              <a:avLst/>
              <a:gdLst/>
              <a:ahLst/>
              <a:cxnLst/>
              <a:rect r="r" b="b" t="t" l="l"/>
              <a:pathLst>
                <a:path h="391882" w="378805">
                  <a:moveTo>
                    <a:pt x="123804" y="0"/>
                  </a:moveTo>
                  <a:lnTo>
                    <a:pt x="255001" y="0"/>
                  </a:lnTo>
                  <a:cubicBezTo>
                    <a:pt x="323376" y="0"/>
                    <a:pt x="378805" y="55429"/>
                    <a:pt x="378805" y="123804"/>
                  </a:cubicBezTo>
                  <a:lnTo>
                    <a:pt x="378805" y="268078"/>
                  </a:lnTo>
                  <a:cubicBezTo>
                    <a:pt x="378805" y="336453"/>
                    <a:pt x="323376" y="391882"/>
                    <a:pt x="255001" y="391882"/>
                  </a:cubicBezTo>
                  <a:lnTo>
                    <a:pt x="123804" y="391882"/>
                  </a:lnTo>
                  <a:cubicBezTo>
                    <a:pt x="90969" y="391882"/>
                    <a:pt x="59479" y="378839"/>
                    <a:pt x="36261" y="355621"/>
                  </a:cubicBezTo>
                  <a:cubicBezTo>
                    <a:pt x="13044" y="332403"/>
                    <a:pt x="0" y="300913"/>
                    <a:pt x="0" y="268078"/>
                  </a:cubicBezTo>
                  <a:lnTo>
                    <a:pt x="0" y="123804"/>
                  </a:lnTo>
                  <a:cubicBezTo>
                    <a:pt x="0" y="90969"/>
                    <a:pt x="13044" y="59479"/>
                    <a:pt x="36261" y="36261"/>
                  </a:cubicBezTo>
                  <a:cubicBezTo>
                    <a:pt x="59479" y="13044"/>
                    <a:pt x="90969" y="0"/>
                    <a:pt x="123804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378805" cy="44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10800000">
            <a:off x="16535010" y="993642"/>
            <a:ext cx="734205" cy="719521"/>
            <a:chOff x="0" y="0"/>
            <a:chExt cx="635000" cy="6223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" cy="622300"/>
            </a:xfrm>
            <a:custGeom>
              <a:avLst/>
              <a:gdLst/>
              <a:ahLst/>
              <a:cxnLst/>
              <a:rect r="r" b="b" t="t" l="l"/>
              <a:pathLst>
                <a:path h="622300" w="6350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66750" y="533400"/>
            <a:ext cx="9763125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6600">
                <a:solidFill>
                  <a:srgbClr val="FF670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socioemocional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9423" y="2097529"/>
            <a:ext cx="7939503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Missão</a:t>
            </a:r>
          </a:p>
          <a:p>
            <a:pPr algn="l" marL="0" indent="0" lvl="0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4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Desenvolver um site divertido, que utilize a temática      de Haikyu!! pa</a:t>
            </a:r>
            <a:r>
              <a:rPr lang="en-US" sz="24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ra in</a:t>
            </a:r>
            <a:r>
              <a:rPr lang="en-US" sz="24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spir</a:t>
            </a:r>
            <a:r>
              <a:rPr lang="en-US" sz="24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</a:t>
            </a:r>
            <a:r>
              <a:rPr lang="en-US" sz="24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r a super</a:t>
            </a:r>
            <a:r>
              <a:rPr lang="en-US" sz="24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</a:t>
            </a:r>
            <a:r>
              <a:rPr lang="en-US" sz="24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ção e contar da minha história </a:t>
            </a:r>
          </a:p>
          <a:p>
            <a:pPr algn="just" marL="0" indent="0" lvl="0">
              <a:lnSpc>
                <a:spcPts val="3359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3414440" y="4042505"/>
            <a:ext cx="7353862" cy="3853626"/>
            <a:chOff x="0" y="0"/>
            <a:chExt cx="9805149" cy="5138168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719735"/>
              <a:ext cx="9805149" cy="4418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7723" indent="-228862" lvl="1">
                <a:lnSpc>
                  <a:spcPts val="2968"/>
                </a:lnSpc>
                <a:buFont typeface="Arial"/>
                <a:buChar char="•"/>
              </a:pPr>
              <a:r>
                <a:rPr lang="en-US" b="true" sz="2120">
                  <a:solidFill>
                    <a:srgbClr val="FFFFF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S</a:t>
              </a:r>
              <a:r>
                <a:rPr lang="en-US" b="true" sz="2120">
                  <a:solidFill>
                    <a:srgbClr val="FFFFF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uperação Diária:</a:t>
              </a:r>
              <a:r>
                <a:rPr lang="en-US" sz="212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 O esforço contínuo e a melhoria em cada tarefa.</a:t>
              </a:r>
            </a:p>
            <a:p>
              <a:pPr algn="l">
                <a:lnSpc>
                  <a:spcPts val="2968"/>
                </a:lnSpc>
              </a:pPr>
            </a:p>
            <a:p>
              <a:pPr algn="l" marL="457723" indent="-228862" lvl="1">
                <a:lnSpc>
                  <a:spcPts val="2968"/>
                </a:lnSpc>
                <a:buFont typeface="Arial"/>
                <a:buChar char="•"/>
              </a:pPr>
              <a:r>
                <a:rPr lang="en-US" b="true" sz="2120">
                  <a:solidFill>
                    <a:srgbClr val="FFFFF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Paixão Pela Criação: </a:t>
              </a:r>
              <a:r>
                <a:rPr lang="en-US" sz="212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O motor que impulsiona o d</a:t>
              </a:r>
              <a:r>
                <a:rPr lang="en-US" sz="212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es</a:t>
              </a:r>
              <a:r>
                <a:rPr lang="en-US" sz="212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envolvimen</a:t>
              </a:r>
              <a:r>
                <a:rPr lang="en-US" sz="212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t</a:t>
              </a:r>
              <a:r>
                <a:rPr lang="en-US" sz="212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o web.</a:t>
              </a:r>
            </a:p>
            <a:p>
              <a:pPr algn="l">
                <a:lnSpc>
                  <a:spcPts val="2968"/>
                </a:lnSpc>
              </a:pPr>
            </a:p>
            <a:p>
              <a:pPr algn="l" marL="457723" indent="-228862" lvl="1">
                <a:lnSpc>
                  <a:spcPts val="2968"/>
                </a:lnSpc>
                <a:buFont typeface="Arial"/>
                <a:buChar char="•"/>
              </a:pPr>
              <a:r>
                <a:rPr lang="en-US" b="true" sz="2120">
                  <a:solidFill>
                    <a:srgbClr val="FFFFF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Resiliência:</a:t>
              </a:r>
              <a:r>
                <a:rPr lang="en-US" sz="212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 A capacidad</a:t>
              </a:r>
              <a:r>
                <a:rPr lang="en-US" sz="212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e</a:t>
              </a:r>
              <a:r>
                <a:rPr lang="en-US" sz="212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 de "co</a:t>
              </a:r>
              <a:r>
                <a:rPr lang="en-US" sz="212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nt</a:t>
              </a:r>
              <a:r>
                <a:rPr lang="en-US" sz="212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inuar saltando" após cada falha, </a:t>
              </a:r>
              <a:r>
                <a:rPr lang="en-US" sz="212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s</a:t>
              </a:r>
              <a:r>
                <a:rPr lang="en-US" sz="212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eja no vôlei ou no código.</a:t>
              </a:r>
            </a:p>
            <a:p>
              <a:pPr algn="l" marL="0" indent="0" lvl="0">
                <a:lnSpc>
                  <a:spcPts val="2968"/>
                </a:lnSpc>
              </a:pP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47625"/>
              <a:ext cx="9805149" cy="4694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68"/>
                </a:lnSpc>
              </a:pPr>
              <a:r>
                <a:rPr lang="en-US" b="true" sz="2120">
                  <a:solidFill>
                    <a:srgbClr val="FFFFF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 Valores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285265" y="10214610"/>
            <a:ext cx="832485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Tanaka utiliza sua </a:t>
            </a:r>
            <a:r>
              <a:rPr lang="en-US" b="true" sz="2400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potência explosiva</a:t>
            </a:r>
            <a:r>
              <a:rPr lang="en-US" sz="24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para atacar.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59423" y="8602980"/>
            <a:ext cx="7939503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Visão</a:t>
            </a:r>
          </a:p>
          <a:p>
            <a:pPr algn="l" marL="0" indent="0" lvl="0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Tor</a:t>
            </a:r>
            <a:r>
              <a:rPr lang="en-US" sz="24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nar-me uma referência no desenvolvimento web, atingindo o nível de um "Pequeno Gigante" do código.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5448300" cy="3515837"/>
            <a:chOff x="0" y="0"/>
            <a:chExt cx="1862768" cy="12020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62768" cy="1202061"/>
            </a:xfrm>
            <a:custGeom>
              <a:avLst/>
              <a:gdLst/>
              <a:ahLst/>
              <a:cxnLst/>
              <a:rect r="r" b="b" t="t" l="l"/>
              <a:pathLst>
                <a:path h="1202061" w="1862768">
                  <a:moveTo>
                    <a:pt x="71049" y="0"/>
                  </a:moveTo>
                  <a:lnTo>
                    <a:pt x="1791720" y="0"/>
                  </a:lnTo>
                  <a:cubicBezTo>
                    <a:pt x="1810563" y="0"/>
                    <a:pt x="1828635" y="7485"/>
                    <a:pt x="1841959" y="20810"/>
                  </a:cubicBezTo>
                  <a:cubicBezTo>
                    <a:pt x="1855283" y="34134"/>
                    <a:pt x="1862768" y="52206"/>
                    <a:pt x="1862768" y="71049"/>
                  </a:cubicBezTo>
                  <a:lnTo>
                    <a:pt x="1862768" y="1131012"/>
                  </a:lnTo>
                  <a:cubicBezTo>
                    <a:pt x="1862768" y="1149855"/>
                    <a:pt x="1855283" y="1167927"/>
                    <a:pt x="1841959" y="1181251"/>
                  </a:cubicBezTo>
                  <a:cubicBezTo>
                    <a:pt x="1828635" y="1194576"/>
                    <a:pt x="1810563" y="1202061"/>
                    <a:pt x="1791720" y="1202061"/>
                  </a:cubicBezTo>
                  <a:lnTo>
                    <a:pt x="71049" y="1202061"/>
                  </a:lnTo>
                  <a:cubicBezTo>
                    <a:pt x="52206" y="1202061"/>
                    <a:pt x="34134" y="1194576"/>
                    <a:pt x="20810" y="1181251"/>
                  </a:cubicBezTo>
                  <a:cubicBezTo>
                    <a:pt x="7485" y="1167927"/>
                    <a:pt x="0" y="1149855"/>
                    <a:pt x="0" y="1131012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0803" r="0" b="-4416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19850" y="3352800"/>
            <a:ext cx="5448300" cy="3515837"/>
            <a:chOff x="0" y="0"/>
            <a:chExt cx="1862768" cy="12020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62768" cy="1202061"/>
            </a:xfrm>
            <a:custGeom>
              <a:avLst/>
              <a:gdLst/>
              <a:ahLst/>
              <a:cxnLst/>
              <a:rect r="r" b="b" t="t" l="l"/>
              <a:pathLst>
                <a:path h="1202061" w="1862768">
                  <a:moveTo>
                    <a:pt x="71049" y="0"/>
                  </a:moveTo>
                  <a:lnTo>
                    <a:pt x="1791720" y="0"/>
                  </a:lnTo>
                  <a:cubicBezTo>
                    <a:pt x="1810563" y="0"/>
                    <a:pt x="1828635" y="7485"/>
                    <a:pt x="1841959" y="20810"/>
                  </a:cubicBezTo>
                  <a:cubicBezTo>
                    <a:pt x="1855283" y="34134"/>
                    <a:pt x="1862768" y="52206"/>
                    <a:pt x="1862768" y="71049"/>
                  </a:cubicBezTo>
                  <a:lnTo>
                    <a:pt x="1862768" y="1131012"/>
                  </a:lnTo>
                  <a:cubicBezTo>
                    <a:pt x="1862768" y="1149855"/>
                    <a:pt x="1855283" y="1167927"/>
                    <a:pt x="1841959" y="1181251"/>
                  </a:cubicBezTo>
                  <a:cubicBezTo>
                    <a:pt x="1828635" y="1194576"/>
                    <a:pt x="1810563" y="1202061"/>
                    <a:pt x="1791720" y="1202061"/>
                  </a:cubicBezTo>
                  <a:lnTo>
                    <a:pt x="71049" y="1202061"/>
                  </a:lnTo>
                  <a:cubicBezTo>
                    <a:pt x="52206" y="1202061"/>
                    <a:pt x="34134" y="1194576"/>
                    <a:pt x="20810" y="1181251"/>
                  </a:cubicBezTo>
                  <a:cubicBezTo>
                    <a:pt x="7485" y="1167927"/>
                    <a:pt x="0" y="1149855"/>
                    <a:pt x="0" y="1131012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8744" r="0" b="-6496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72950" y="3352800"/>
            <a:ext cx="5448300" cy="3515837"/>
            <a:chOff x="0" y="0"/>
            <a:chExt cx="1862768" cy="12020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62768" cy="1202061"/>
            </a:xfrm>
            <a:custGeom>
              <a:avLst/>
              <a:gdLst/>
              <a:ahLst/>
              <a:cxnLst/>
              <a:rect r="r" b="b" t="t" l="l"/>
              <a:pathLst>
                <a:path h="1202061" w="1862768">
                  <a:moveTo>
                    <a:pt x="71049" y="0"/>
                  </a:moveTo>
                  <a:lnTo>
                    <a:pt x="1791720" y="0"/>
                  </a:lnTo>
                  <a:cubicBezTo>
                    <a:pt x="1810563" y="0"/>
                    <a:pt x="1828635" y="7485"/>
                    <a:pt x="1841959" y="20810"/>
                  </a:cubicBezTo>
                  <a:cubicBezTo>
                    <a:pt x="1855283" y="34134"/>
                    <a:pt x="1862768" y="52206"/>
                    <a:pt x="1862768" y="71049"/>
                  </a:cubicBezTo>
                  <a:lnTo>
                    <a:pt x="1862768" y="1131012"/>
                  </a:lnTo>
                  <a:cubicBezTo>
                    <a:pt x="1862768" y="1149855"/>
                    <a:pt x="1855283" y="1167927"/>
                    <a:pt x="1841959" y="1181251"/>
                  </a:cubicBezTo>
                  <a:cubicBezTo>
                    <a:pt x="1828635" y="1194576"/>
                    <a:pt x="1810563" y="1202061"/>
                    <a:pt x="1791720" y="1202061"/>
                  </a:cubicBezTo>
                  <a:lnTo>
                    <a:pt x="71049" y="1202061"/>
                  </a:lnTo>
                  <a:cubicBezTo>
                    <a:pt x="52206" y="1202061"/>
                    <a:pt x="34134" y="1194576"/>
                    <a:pt x="20810" y="1181251"/>
                  </a:cubicBezTo>
                  <a:cubicBezTo>
                    <a:pt x="7485" y="1167927"/>
                    <a:pt x="0" y="1149855"/>
                    <a:pt x="0" y="1131012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7482" r="0" b="-2748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895350"/>
            <a:ext cx="14077950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  <a:spcBef>
                <a:spcPct val="0"/>
              </a:spcBef>
            </a:pPr>
            <a:r>
              <a:rPr lang="en-US" sz="6600">
                <a:solidFill>
                  <a:srgbClr val="FF670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DESAFIOS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65700" y="7471424"/>
            <a:ext cx="5649350" cy="1304999"/>
            <a:chOff x="0" y="0"/>
            <a:chExt cx="7532467" cy="173999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617812"/>
              <a:ext cx="7532467" cy="11221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83"/>
                </a:lnSpc>
              </a:pPr>
              <a:r>
                <a:rPr lang="en-US" sz="2488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A dúv</a:t>
              </a:r>
              <a:r>
                <a:rPr lang="en-US" sz="2488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ida co</a:t>
              </a:r>
              <a:r>
                <a:rPr lang="en-US" sz="2488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nst</a:t>
              </a:r>
              <a:r>
                <a:rPr lang="en-US" sz="2488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an</a:t>
              </a:r>
              <a:r>
                <a:rPr lang="en-US" sz="2488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te sobre</a:t>
              </a:r>
              <a:r>
                <a:rPr lang="en-US" sz="2488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 m</a:t>
              </a:r>
              <a:r>
                <a:rPr lang="en-US" sz="2488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eu real</a:t>
              </a:r>
              <a:r>
                <a:rPr lang="en-US" sz="2488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 potencial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7532467" cy="5102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93"/>
                </a:lnSpc>
                <a:spcBef>
                  <a:spcPct val="0"/>
                </a:spcBef>
              </a:pPr>
              <a:r>
                <a:rPr lang="en-US" b="true" sz="2281">
                  <a:solidFill>
                    <a:srgbClr val="FFFFF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AUTOSSABOTAGEM </a:t>
              </a:r>
              <a:r>
                <a:rPr lang="en-US" b="true" sz="2281" strike="noStrike" u="none">
                  <a:solidFill>
                    <a:srgbClr val="FFFFF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E IN</a:t>
              </a:r>
              <a:r>
                <a:rPr lang="en-US" b="true" sz="2281" strike="noStrike" u="none">
                  <a:solidFill>
                    <a:srgbClr val="FFFFF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SEGUR</a:t>
              </a:r>
              <a:r>
                <a:rPr lang="en-US" b="true" sz="2281" strike="noStrike" u="none">
                  <a:solidFill>
                    <a:srgbClr val="FFFFF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A</a:t>
              </a:r>
              <a:r>
                <a:rPr lang="en-US" b="true" sz="2281" strike="noStrike" u="none">
                  <a:solidFill>
                    <a:srgbClr val="FFFFF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NÇ</a:t>
              </a:r>
              <a:r>
                <a:rPr lang="en-US" b="true" sz="2281" strike="noStrike" u="none">
                  <a:solidFill>
                    <a:srgbClr val="FFFFF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A: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419850" y="7471424"/>
            <a:ext cx="5448300" cy="1701151"/>
            <a:chOff x="0" y="0"/>
            <a:chExt cx="7264400" cy="226820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615932"/>
              <a:ext cx="7264400" cy="1652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Con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t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inuar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 avançan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do quand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o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 nada par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ecia 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dar c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er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to e os resultados eram inexistentes ou negativos.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57150"/>
              <a:ext cx="72644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PERSISTÊNCIA INABALÁVEL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7471424"/>
            <a:ext cx="5448300" cy="1282051"/>
            <a:chOff x="0" y="0"/>
            <a:chExt cx="7264400" cy="1709402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615932"/>
              <a:ext cx="7264400" cy="109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Desenvolver e manter  uma rotina de estudos.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57150"/>
              <a:ext cx="72644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DISCIPLINA CONSISTENTE: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5448300" cy="3515837"/>
            <a:chOff x="0" y="0"/>
            <a:chExt cx="1862768" cy="12020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62768" cy="1202061"/>
            </a:xfrm>
            <a:custGeom>
              <a:avLst/>
              <a:gdLst/>
              <a:ahLst/>
              <a:cxnLst/>
              <a:rect r="r" b="b" t="t" l="l"/>
              <a:pathLst>
                <a:path h="1202061" w="1862768">
                  <a:moveTo>
                    <a:pt x="71049" y="0"/>
                  </a:moveTo>
                  <a:lnTo>
                    <a:pt x="1791720" y="0"/>
                  </a:lnTo>
                  <a:cubicBezTo>
                    <a:pt x="1810563" y="0"/>
                    <a:pt x="1828635" y="7485"/>
                    <a:pt x="1841959" y="20810"/>
                  </a:cubicBezTo>
                  <a:cubicBezTo>
                    <a:pt x="1855283" y="34134"/>
                    <a:pt x="1862768" y="52206"/>
                    <a:pt x="1862768" y="71049"/>
                  </a:cubicBezTo>
                  <a:lnTo>
                    <a:pt x="1862768" y="1131012"/>
                  </a:lnTo>
                  <a:cubicBezTo>
                    <a:pt x="1862768" y="1149855"/>
                    <a:pt x="1855283" y="1167927"/>
                    <a:pt x="1841959" y="1181251"/>
                  </a:cubicBezTo>
                  <a:cubicBezTo>
                    <a:pt x="1828635" y="1194576"/>
                    <a:pt x="1810563" y="1202061"/>
                    <a:pt x="1791720" y="1202061"/>
                  </a:cubicBezTo>
                  <a:lnTo>
                    <a:pt x="71049" y="1202061"/>
                  </a:lnTo>
                  <a:cubicBezTo>
                    <a:pt x="52206" y="1202061"/>
                    <a:pt x="34134" y="1194576"/>
                    <a:pt x="20810" y="1181251"/>
                  </a:cubicBezTo>
                  <a:cubicBezTo>
                    <a:pt x="7485" y="1167927"/>
                    <a:pt x="0" y="1149855"/>
                    <a:pt x="0" y="1131012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0803" r="0" b="-4416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19850" y="3352800"/>
            <a:ext cx="5448300" cy="3515837"/>
            <a:chOff x="0" y="0"/>
            <a:chExt cx="1862768" cy="12020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62768" cy="1202061"/>
            </a:xfrm>
            <a:custGeom>
              <a:avLst/>
              <a:gdLst/>
              <a:ahLst/>
              <a:cxnLst/>
              <a:rect r="r" b="b" t="t" l="l"/>
              <a:pathLst>
                <a:path h="1202061" w="1862768">
                  <a:moveTo>
                    <a:pt x="71049" y="0"/>
                  </a:moveTo>
                  <a:lnTo>
                    <a:pt x="1791720" y="0"/>
                  </a:lnTo>
                  <a:cubicBezTo>
                    <a:pt x="1810563" y="0"/>
                    <a:pt x="1828635" y="7485"/>
                    <a:pt x="1841959" y="20810"/>
                  </a:cubicBezTo>
                  <a:cubicBezTo>
                    <a:pt x="1855283" y="34134"/>
                    <a:pt x="1862768" y="52206"/>
                    <a:pt x="1862768" y="71049"/>
                  </a:cubicBezTo>
                  <a:lnTo>
                    <a:pt x="1862768" y="1131012"/>
                  </a:lnTo>
                  <a:cubicBezTo>
                    <a:pt x="1862768" y="1149855"/>
                    <a:pt x="1855283" y="1167927"/>
                    <a:pt x="1841959" y="1181251"/>
                  </a:cubicBezTo>
                  <a:cubicBezTo>
                    <a:pt x="1828635" y="1194576"/>
                    <a:pt x="1810563" y="1202061"/>
                    <a:pt x="1791720" y="1202061"/>
                  </a:cubicBezTo>
                  <a:lnTo>
                    <a:pt x="71049" y="1202061"/>
                  </a:lnTo>
                  <a:cubicBezTo>
                    <a:pt x="52206" y="1202061"/>
                    <a:pt x="34134" y="1194576"/>
                    <a:pt x="20810" y="1181251"/>
                  </a:cubicBezTo>
                  <a:cubicBezTo>
                    <a:pt x="7485" y="1167927"/>
                    <a:pt x="0" y="1149855"/>
                    <a:pt x="0" y="1131012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8744" r="0" b="-6496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72950" y="3352800"/>
            <a:ext cx="5448300" cy="3515837"/>
            <a:chOff x="0" y="0"/>
            <a:chExt cx="1862768" cy="12020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62768" cy="1202061"/>
            </a:xfrm>
            <a:custGeom>
              <a:avLst/>
              <a:gdLst/>
              <a:ahLst/>
              <a:cxnLst/>
              <a:rect r="r" b="b" t="t" l="l"/>
              <a:pathLst>
                <a:path h="1202061" w="1862768">
                  <a:moveTo>
                    <a:pt x="71049" y="0"/>
                  </a:moveTo>
                  <a:lnTo>
                    <a:pt x="1791720" y="0"/>
                  </a:lnTo>
                  <a:cubicBezTo>
                    <a:pt x="1810563" y="0"/>
                    <a:pt x="1828635" y="7485"/>
                    <a:pt x="1841959" y="20810"/>
                  </a:cubicBezTo>
                  <a:cubicBezTo>
                    <a:pt x="1855283" y="34134"/>
                    <a:pt x="1862768" y="52206"/>
                    <a:pt x="1862768" y="71049"/>
                  </a:cubicBezTo>
                  <a:lnTo>
                    <a:pt x="1862768" y="1131012"/>
                  </a:lnTo>
                  <a:cubicBezTo>
                    <a:pt x="1862768" y="1149855"/>
                    <a:pt x="1855283" y="1167927"/>
                    <a:pt x="1841959" y="1181251"/>
                  </a:cubicBezTo>
                  <a:cubicBezTo>
                    <a:pt x="1828635" y="1194576"/>
                    <a:pt x="1810563" y="1202061"/>
                    <a:pt x="1791720" y="1202061"/>
                  </a:cubicBezTo>
                  <a:lnTo>
                    <a:pt x="71049" y="1202061"/>
                  </a:lnTo>
                  <a:cubicBezTo>
                    <a:pt x="52206" y="1202061"/>
                    <a:pt x="34134" y="1194576"/>
                    <a:pt x="20810" y="1181251"/>
                  </a:cubicBezTo>
                  <a:cubicBezTo>
                    <a:pt x="7485" y="1167927"/>
                    <a:pt x="0" y="1149855"/>
                    <a:pt x="0" y="1131012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7482" r="0" b="-2748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09650" y="895350"/>
            <a:ext cx="14077950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  <a:spcBef>
                <a:spcPct val="0"/>
              </a:spcBef>
            </a:pPr>
            <a:r>
              <a:rPr lang="en-US" sz="6600">
                <a:solidFill>
                  <a:srgbClr val="FF670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SUPERAÇÃO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6750" y="7471424"/>
            <a:ext cx="5448300" cy="2120251"/>
            <a:chOff x="0" y="0"/>
            <a:chExt cx="7264400" cy="282700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615932"/>
              <a:ext cx="7264400" cy="2211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A tr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ajetória d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e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 H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in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a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t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a m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e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 ensinou a ver os desafios não como barreiras, mas como oportunidades de crescimento.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72644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A MUDANÇA DE M</a:t>
              </a:r>
              <a:r>
                <a:rPr lang="en-US" b="true" sz="2400" strike="noStrike" u="none">
                  <a:solidFill>
                    <a:srgbClr val="FFFFF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E</a:t>
              </a:r>
              <a:r>
                <a:rPr lang="en-US" b="true" sz="2400" strike="noStrike" u="none">
                  <a:solidFill>
                    <a:srgbClr val="FFFFF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NTAL</a:t>
              </a:r>
              <a:r>
                <a:rPr lang="en-US" b="true" sz="2400" strike="noStrike" u="none">
                  <a:solidFill>
                    <a:srgbClr val="FFFFF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I</a:t>
              </a:r>
              <a:r>
                <a:rPr lang="en-US" b="true" sz="2400" strike="noStrike" u="none">
                  <a:solidFill>
                    <a:srgbClr val="FFFFF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DADE: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419850" y="7471424"/>
            <a:ext cx="5448300" cy="1701151"/>
            <a:chOff x="0" y="0"/>
            <a:chExt cx="7264400" cy="226820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615932"/>
              <a:ext cx="7264400" cy="1652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 Se 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e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u 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t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ive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s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se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 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desistid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o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 na s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e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gunda t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ent</a:t>
              </a: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ativa, não estaria onde tanto almejei estar hoje.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57150"/>
              <a:ext cx="72644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APROVAÇÃO NA FACULDADE: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7471424"/>
            <a:ext cx="5448300" cy="1282051"/>
            <a:chOff x="0" y="0"/>
            <a:chExt cx="7264400" cy="1709402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615932"/>
              <a:ext cx="7264400" cy="109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Não deixar as minhas limitações me vencer.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57150"/>
              <a:ext cx="72644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PERSISTÊNCIA: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6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6860" y="2628802"/>
            <a:ext cx="9041130" cy="5215988"/>
            <a:chOff x="0" y="0"/>
            <a:chExt cx="2381203" cy="1373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1203" cy="1373758"/>
            </a:xfrm>
            <a:custGeom>
              <a:avLst/>
              <a:gdLst/>
              <a:ahLst/>
              <a:cxnLst/>
              <a:rect r="r" b="b" t="t" l="l"/>
              <a:pathLst>
                <a:path h="1373758" w="2381203">
                  <a:moveTo>
                    <a:pt x="34252" y="0"/>
                  </a:moveTo>
                  <a:lnTo>
                    <a:pt x="2346951" y="0"/>
                  </a:lnTo>
                  <a:cubicBezTo>
                    <a:pt x="2365868" y="0"/>
                    <a:pt x="2381203" y="15335"/>
                    <a:pt x="2381203" y="34252"/>
                  </a:cubicBezTo>
                  <a:lnTo>
                    <a:pt x="2381203" y="1339506"/>
                  </a:lnTo>
                  <a:cubicBezTo>
                    <a:pt x="2381203" y="1358423"/>
                    <a:pt x="2365868" y="1373758"/>
                    <a:pt x="2346951" y="1373758"/>
                  </a:cubicBezTo>
                  <a:lnTo>
                    <a:pt x="34252" y="1373758"/>
                  </a:lnTo>
                  <a:cubicBezTo>
                    <a:pt x="15335" y="1373758"/>
                    <a:pt x="0" y="1358423"/>
                    <a:pt x="0" y="1339506"/>
                  </a:cubicBezTo>
                  <a:lnTo>
                    <a:pt x="0" y="34252"/>
                  </a:lnTo>
                  <a:cubicBezTo>
                    <a:pt x="0" y="15335"/>
                    <a:pt x="15335" y="0"/>
                    <a:pt x="3425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81203" cy="1430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179490" y="1362738"/>
            <a:ext cx="6246983" cy="8924262"/>
          </a:xfrm>
          <a:custGeom>
            <a:avLst/>
            <a:gdLst/>
            <a:ahLst/>
            <a:cxnLst/>
            <a:rect r="r" b="b" t="t" l="l"/>
            <a:pathLst>
              <a:path h="8924262" w="6246983">
                <a:moveTo>
                  <a:pt x="0" y="0"/>
                </a:moveTo>
                <a:lnTo>
                  <a:pt x="6246983" y="0"/>
                </a:lnTo>
                <a:lnTo>
                  <a:pt x="6246983" y="8924262"/>
                </a:lnTo>
                <a:lnTo>
                  <a:pt x="0" y="89242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6816090"/>
            <a:ext cx="987933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PERGUNTAS?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48135" y="4461510"/>
            <a:ext cx="4640461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Obrigada pela atenção!!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DAG5jSlOaHY</dc:identifier>
  <dcterms:modified xsi:type="dcterms:W3CDTF">2011-08-01T06:04:30Z</dcterms:modified>
  <cp:revision>1</cp:revision>
  <dc:title>Haikyu</dc:title>
</cp:coreProperties>
</file>